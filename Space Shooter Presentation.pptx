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28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12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CF9FF-3E22-F18F-73B9-F739C19A6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F1C914-66BC-A131-FF26-E28589CA0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7792C7-D9CC-A84F-7BC6-77ED577B1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504F5-D218-4209-8B39-EDDDC59173C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450EFF-07D6-E4A0-ED93-14CBE3A48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D0C930-DF84-F74F-E779-158A0BF21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DF0B-7592-40CF-BC87-A30F61CCE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445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BC8E3D-154E-FFA9-B596-9D5028CA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A84DF5-0E6E-3466-8FE1-D57F7DB5A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B6BF8B-58B5-1B6C-8E57-E7A598B0C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504F5-D218-4209-8B39-EDDDC59173C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12187A-8132-F056-894D-C4BB28D1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EBF8B8-9764-A844-8A78-3381BD8DD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DF0B-7592-40CF-BC87-A30F61CCE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704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C98F8D-1E5A-1301-986F-A715D2A2A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583FEB-E708-3F39-01DC-9C6747405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1472F6-0B42-B53C-D6CB-94CF46592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504F5-D218-4209-8B39-EDDDC59173C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2992F2-D765-2955-35D6-866A632A9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F8738B-DAB4-893B-8D45-9D241494C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DF0B-7592-40CF-BC87-A30F61CCE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571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208879-6E3B-B1C7-2C22-9AB545847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1C0F98-BF09-6A4D-59DC-25E62AE4FF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433209-5A1A-9AF8-5221-D7AFE7A9D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75223DD-9BF3-2F30-8B05-02BE546AA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504F5-D218-4209-8B39-EDDDC59173C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5A41AB-BDA3-DBD6-AAE4-B7849175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51786D-FB80-4543-8672-14D893603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DF0B-7592-40CF-BC87-A30F61CCE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20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BD97F-4F1C-5439-F9DA-5FA39866D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241C91-298B-5E91-F1CE-36BA72E20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859866-32F4-8D0A-F1F2-D3687482C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41E85F8-421C-707D-8447-E7F9B400A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8F9B562-16E0-691D-FEE8-DD10C2741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6B546B3-6C56-C242-950E-960015E5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504F5-D218-4209-8B39-EDDDC59173C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F2FB3E4-D183-8444-C525-9C3CC72E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1347B60-1FC1-CA02-181B-BC62A0CE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DF0B-7592-40CF-BC87-A30F61CCE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34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B1E53E-E36E-58B8-8390-80F58F5D3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1262502-7238-35CE-D11D-9DEA87461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504F5-D218-4209-8B39-EDDDC59173C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2D30F10-256E-656E-A4B0-3B6526F26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CDAB53-49FC-40DB-03A7-EF98C2AE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DF0B-7592-40CF-BC87-A30F61CCE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652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6990A98-6347-A949-ED53-01350741A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504F5-D218-4209-8B39-EDDDC59173C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8D57549-8155-F85A-24DB-B02E2D207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8CDEF2-7DA4-894F-CF18-1E1BC916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DF0B-7592-40CF-BC87-A30F61CCE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366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8BD3E3-A36D-E32F-DAC4-94E32BB01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963152-73DC-FEE0-8087-C7F284BA1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7E67DF-D5C3-DE30-C58E-2428ECFE5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EA01FF-FBEA-2956-E0B4-1D53B3ED9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504F5-D218-4209-8B39-EDDDC59173C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1CA2BF-83F1-1E15-E1E7-8E665B221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D4023D-7EFC-B382-BA76-C380A530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DF0B-7592-40CF-BC87-A30F61CCE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884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C07C7A-727B-DE54-C361-A99A52601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AD06158-F984-0295-EFC5-BCFCF5534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DCA4EC-59F3-2FE6-61D2-9022B0525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1A8E24-5197-67EB-57C5-B30A0D938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504F5-D218-4209-8B39-EDDDC59173C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81A8E5-4406-1883-EAA9-0175B7166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0E250E-FDD8-7A4C-9129-1DA24A800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DF0B-7592-40CF-BC87-A30F61CCE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442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C268D-0E81-4F6E-A4C2-88CF4075E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F82ABC-6FEB-8431-A53D-C87F632EF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A88975-D0D5-B87B-197D-047BB73DB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504F5-D218-4209-8B39-EDDDC59173C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7D2A9E-1AA7-0EE7-8D8F-A69DCDF32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C9B1F6-BA95-8DE6-2393-8CE0605F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DF0B-7592-40CF-BC87-A30F61CCE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642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4D3CF4A-4F57-95F5-C42D-84621C929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FA3EB67-3C04-A11A-894E-1D46003AA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85545E-CD5A-57CA-9D87-CEEAA305E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504F5-D218-4209-8B39-EDDDC59173C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F2D764-D2F5-518B-0314-4E56FFF8F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26FF86-FB27-8BDE-3517-160D07E9A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DF0B-7592-40CF-BC87-A30F61CCE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66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FADCA3-80F0-D886-1B4F-503DD956C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02C7DD-1DDD-C0B2-1770-6C6A5C530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A51A90-1DAA-8E31-3B4D-CAC184A3A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504F5-D218-4209-8B39-EDDDC59173C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010982-4283-7E34-9A4A-26A12DB90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A1CEC2-07B6-4DA2-927A-94A113423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BADF0B-7592-40CF-BC87-A30F61CCE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88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media" Target="../media/media2.mp4"/><Relationship Id="rId7" Type="http://schemas.openxmlformats.org/officeDocument/2006/relationships/image" Target="../media/image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jp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2.mp4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media" Target="../media/media3.mp4"/><Relationship Id="rId7" Type="http://schemas.openxmlformats.org/officeDocument/2006/relationships/image" Target="../media/image1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jp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5.png"/><Relationship Id="rId4" Type="http://schemas.openxmlformats.org/officeDocument/2006/relationships/video" Target="../media/media3.mp4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верхние углы 4">
            <a:extLst>
              <a:ext uri="{FF2B5EF4-FFF2-40B4-BE49-F238E27FC236}">
                <a16:creationId xmlns:a16="http://schemas.microsoft.com/office/drawing/2014/main" id="{8324EBF0-C1F6-AA5F-E91C-101E42AA1893}"/>
              </a:ext>
            </a:extLst>
          </p:cNvPr>
          <p:cNvSpPr/>
          <p:nvPr/>
        </p:nvSpPr>
        <p:spPr>
          <a:xfrm>
            <a:off x="3560344" y="5221705"/>
            <a:ext cx="5528511" cy="554873"/>
          </a:xfrm>
          <a:prstGeom prst="round2Same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62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противолежащие углы 3">
            <a:extLst>
              <a:ext uri="{FF2B5EF4-FFF2-40B4-BE49-F238E27FC236}">
                <a16:creationId xmlns:a16="http://schemas.microsoft.com/office/drawing/2014/main" id="{5764FDF6-490A-23DE-E3FB-B4F126DEE955}"/>
              </a:ext>
            </a:extLst>
          </p:cNvPr>
          <p:cNvSpPr/>
          <p:nvPr/>
        </p:nvSpPr>
        <p:spPr>
          <a:xfrm>
            <a:off x="1099930" y="992604"/>
            <a:ext cx="9992139" cy="2208571"/>
          </a:xfrm>
          <a:prstGeom prst="round2DiagRect">
            <a:avLst>
              <a:gd name="adj1" fmla="val 47719"/>
              <a:gd name="adj2" fmla="val 0"/>
            </a:avLst>
          </a:prstGeom>
          <a:gradFill>
            <a:gsLst>
              <a:gs pos="100000">
                <a:schemeClr val="accent5">
                  <a:lumMod val="20000"/>
                  <a:lumOff val="80000"/>
                </a:schemeClr>
              </a:gs>
              <a:gs pos="0">
                <a:schemeClr val="accent5">
                  <a:lumMod val="50000"/>
                </a:schemeClr>
              </a:gs>
            </a:gsLst>
            <a:lin ang="162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5ECB10-DFC6-BE1F-DD13-DB3D8F864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5429" y="1188238"/>
            <a:ext cx="9121140" cy="1817301"/>
          </a:xfrm>
        </p:spPr>
        <p:txBody>
          <a:bodyPr>
            <a:normAutofit fontScale="90000"/>
          </a:bodyPr>
          <a:lstStyle/>
          <a:p>
            <a:r>
              <a:rPr lang="ru-RU" sz="2800" b="1" dirty="0">
                <a:latin typeface="Comic Sans MS" panose="030F0702030302020204" pitchFamily="66" charset="0"/>
              </a:rPr>
              <a:t>Ультра </a:t>
            </a:r>
            <a:r>
              <a:rPr lang="ru-RU" sz="2800" b="1" dirty="0" err="1">
                <a:latin typeface="Comic Sans MS" panose="030F0702030302020204" pitchFamily="66" charset="0"/>
              </a:rPr>
              <a:t>гипер</a:t>
            </a:r>
            <a:r>
              <a:rPr lang="ru-RU" sz="2800" b="1" dirty="0">
                <a:latin typeface="Comic Sans MS" panose="030F0702030302020204" pitchFamily="66" charset="0"/>
              </a:rPr>
              <a:t> мега </a:t>
            </a:r>
            <a:r>
              <a:rPr lang="ru-RU" sz="2800" b="1" dirty="0" err="1">
                <a:latin typeface="Comic Sans MS" panose="030F0702030302020204" pitchFamily="66" charset="0"/>
              </a:rPr>
              <a:t>маладёжный</a:t>
            </a:r>
            <a:r>
              <a:rPr lang="ru-RU" sz="2800" b="1" dirty="0">
                <a:latin typeface="Comic Sans MS" panose="030F0702030302020204" pitchFamily="66" charset="0"/>
              </a:rPr>
              <a:t> </a:t>
            </a:r>
            <a:r>
              <a:rPr lang="ru-RU" sz="2800" b="1" dirty="0" err="1">
                <a:latin typeface="Comic Sans MS" panose="030F0702030302020204" pitchFamily="66" charset="0"/>
              </a:rPr>
              <a:t>касмический</a:t>
            </a:r>
            <a:r>
              <a:rPr lang="ru-RU" sz="2800" b="1" dirty="0">
                <a:latin typeface="Comic Sans MS" panose="030F0702030302020204" pitchFamily="66" charset="0"/>
              </a:rPr>
              <a:t> </a:t>
            </a:r>
            <a:r>
              <a:rPr lang="ru-RU" sz="2800" b="1" dirty="0" err="1">
                <a:latin typeface="Comic Sans MS" panose="030F0702030302020204" pitchFamily="66" charset="0"/>
              </a:rPr>
              <a:t>шутэр</a:t>
            </a:r>
            <a:r>
              <a:rPr lang="ru-RU" sz="2800" b="1" dirty="0">
                <a:latin typeface="Comic Sans MS" panose="030F0702030302020204" pitchFamily="66" charset="0"/>
              </a:rPr>
              <a:t> стрелялка бесплатно без мс и регистрации стрелять летать космос про против </a:t>
            </a:r>
            <a:r>
              <a:rPr lang="ru-RU" sz="2800" b="1" dirty="0" err="1">
                <a:latin typeface="Comic Sans MS" panose="030F0702030302020204" pitchFamily="66" charset="0"/>
              </a:rPr>
              <a:t>нубика</a:t>
            </a:r>
            <a:r>
              <a:rPr lang="ru-RU" sz="2800" b="1" dirty="0">
                <a:latin typeface="Comic Sans MS" panose="030F0702030302020204" pitchFamily="66" charset="0"/>
              </a:rPr>
              <a:t> паркур 999</a:t>
            </a:r>
            <a:r>
              <a:rPr lang="en-US" sz="2800" b="1" dirty="0">
                <a:latin typeface="Comic Sans MS" panose="030F0702030302020204" pitchFamily="66" charset="0"/>
              </a:rPr>
              <a:t> </a:t>
            </a:r>
            <a:r>
              <a:rPr lang="ru-RU" sz="2800" b="1" dirty="0">
                <a:latin typeface="Comic Sans MS" panose="030F0702030302020204" pitchFamily="66" charset="0"/>
              </a:rPr>
              <a:t>уровней </a:t>
            </a:r>
            <a:r>
              <a:rPr lang="ru-RU" sz="2800" b="1" dirty="0" err="1">
                <a:latin typeface="Comic Sans MS" panose="030F0702030302020204" pitchFamily="66" charset="0"/>
              </a:rPr>
              <a:t>читер</a:t>
            </a:r>
            <a:r>
              <a:rPr lang="ru-RU" sz="2800" b="1" dirty="0">
                <a:latin typeface="Comic Sans MS" panose="030F0702030302020204" pitchFamily="66" charset="0"/>
              </a:rPr>
              <a:t> против бога в </a:t>
            </a:r>
            <a:r>
              <a:rPr lang="ru-RU" sz="2800" b="1" dirty="0" err="1">
                <a:latin typeface="Comic Sans MS" panose="030F0702030302020204" pitchFamily="66" charset="0"/>
              </a:rPr>
              <a:t>майнкрафт</a:t>
            </a:r>
            <a:r>
              <a:rPr lang="ru-RU" sz="2800" b="1" dirty="0">
                <a:latin typeface="Comic Sans MS" panose="030F0702030302020204" pitchFamily="66" charset="0"/>
              </a:rPr>
              <a:t> но враги космический стрелять </a:t>
            </a:r>
            <a:r>
              <a:rPr lang="ru-RU" sz="2800" b="1" dirty="0" err="1">
                <a:latin typeface="Comic Sans MS" panose="030F0702030302020204" pitchFamily="66" charset="0"/>
              </a:rPr>
              <a:t>яндекс</a:t>
            </a:r>
            <a:r>
              <a:rPr lang="ru-RU" sz="2800" b="1" dirty="0">
                <a:latin typeface="Comic Sans MS" panose="030F0702030302020204" pitchFamily="66" charset="0"/>
              </a:rPr>
              <a:t> игры без рекламы и ввода карты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11FDEFF-772F-00F2-7B03-2802B62A6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0344" y="5310523"/>
            <a:ext cx="5528511" cy="554873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Bahnschrift Condensed" panose="020B0502040204020203" pitchFamily="34" charset="0"/>
              </a:rPr>
              <a:t>GOTY</a:t>
            </a:r>
            <a:r>
              <a:rPr lang="ru-RU" dirty="0">
                <a:latin typeface="Bahnschrift Condensed" panose="020B0502040204020203" pitchFamily="34" charset="0"/>
              </a:rPr>
              <a:t> игра созданная </a:t>
            </a:r>
            <a:r>
              <a:rPr lang="ru-RU" dirty="0" err="1">
                <a:latin typeface="Bahnschrift Condensed" panose="020B0502040204020203" pitchFamily="34" charset="0"/>
              </a:rPr>
              <a:t>немногомиллионной</a:t>
            </a:r>
            <a:r>
              <a:rPr lang="ru-RU" dirty="0">
                <a:latin typeface="Bahnschrift Condensed" panose="020B0502040204020203" pitchFamily="34" charset="0"/>
              </a:rPr>
              <a:t> компанией</a:t>
            </a:r>
          </a:p>
        </p:txBody>
      </p:sp>
    </p:spTree>
    <p:extLst>
      <p:ext uri="{BB962C8B-B14F-4D97-AF65-F5344CB8AC3E}">
        <p14:creationId xmlns:p14="http://schemas.microsoft.com/office/powerpoint/2010/main" val="2438123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усеченные противолежащие углы 9">
            <a:extLst>
              <a:ext uri="{FF2B5EF4-FFF2-40B4-BE49-F238E27FC236}">
                <a16:creationId xmlns:a16="http://schemas.microsoft.com/office/drawing/2014/main" id="{FFFB017E-2E08-5073-2B17-EF0090A48449}"/>
              </a:ext>
            </a:extLst>
          </p:cNvPr>
          <p:cNvSpPr/>
          <p:nvPr/>
        </p:nvSpPr>
        <p:spPr>
          <a:xfrm>
            <a:off x="505276" y="1859192"/>
            <a:ext cx="4396740" cy="2324100"/>
          </a:xfrm>
          <a:prstGeom prst="snip2DiagRect">
            <a:avLst>
              <a:gd name="adj1" fmla="val 19016"/>
              <a:gd name="adj2" fmla="val 601"/>
            </a:avLst>
          </a:prstGeom>
          <a:gradFill>
            <a:gsLst>
              <a:gs pos="100000">
                <a:schemeClr val="accent5">
                  <a:lumMod val="20000"/>
                  <a:lumOff val="80000"/>
                </a:schemeClr>
              </a:gs>
              <a:gs pos="0">
                <a:schemeClr val="accent5">
                  <a:lumMod val="75000"/>
                </a:schemeClr>
              </a:gs>
            </a:gsLst>
            <a:lin ang="162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усеченные противолежащие углы 3">
            <a:extLst>
              <a:ext uri="{FF2B5EF4-FFF2-40B4-BE49-F238E27FC236}">
                <a16:creationId xmlns:a16="http://schemas.microsoft.com/office/drawing/2014/main" id="{E3DE3473-A111-D70A-BC15-A0B39A019C02}"/>
              </a:ext>
            </a:extLst>
          </p:cNvPr>
          <p:cNvSpPr/>
          <p:nvPr/>
        </p:nvSpPr>
        <p:spPr>
          <a:xfrm>
            <a:off x="451935" y="365672"/>
            <a:ext cx="4450080" cy="845820"/>
          </a:xfrm>
          <a:prstGeom prst="snip2DiagRect">
            <a:avLst>
              <a:gd name="adj1" fmla="val 0"/>
              <a:gd name="adj2" fmla="val 50000"/>
            </a:avLst>
          </a:prstGeom>
          <a:gradFill>
            <a:gsLst>
              <a:gs pos="100000">
                <a:schemeClr val="accent5">
                  <a:lumMod val="20000"/>
                  <a:lumOff val="80000"/>
                </a:schemeClr>
              </a:gs>
              <a:gs pos="0">
                <a:schemeClr val="accent5">
                  <a:lumMod val="60000"/>
                  <a:lumOff val="40000"/>
                </a:schemeClr>
              </a:gs>
            </a:gsLst>
            <a:lin ang="162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275E91-F529-4023-5507-DC3D9242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730" y="502673"/>
            <a:ext cx="4185285" cy="571818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latin typeface="Comic Sans MS" panose="030F0702030302020204" pitchFamily="66" charset="0"/>
              </a:rPr>
              <a:t>1. Геймплей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271C62-F4EC-19EC-708D-1022F8CF3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393" y="2010606"/>
            <a:ext cx="4329163" cy="202127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В этой части мы разберём процесс прохождения игры, её визуал и факторы важные для игрока</a:t>
            </a:r>
          </a:p>
        </p:txBody>
      </p:sp>
      <p:pic>
        <p:nvPicPr>
          <p:cNvPr id="12" name="Рисунок 11" descr="Изображение выглядит как транспорт, спутник, пространство, космический корабл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60D91AD-5588-8F64-51BA-7256A9943C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404" y="365672"/>
            <a:ext cx="5280661" cy="4072849"/>
          </a:xfrm>
          <a:prstGeom prst="roundRect">
            <a:avLst>
              <a:gd name="adj" fmla="val 21775"/>
            </a:avLst>
          </a:prstGeom>
          <a:ln w="44450">
            <a:gradFill>
              <a:gsLst>
                <a:gs pos="0">
                  <a:schemeClr val="accent5">
                    <a:lumMod val="75000"/>
                  </a:schemeClr>
                </a:gs>
                <a:gs pos="42000">
                  <a:schemeClr val="accent5">
                    <a:lumMod val="60000"/>
                    <a:lumOff val="40000"/>
                  </a:schemeClr>
                </a:gs>
                <a:gs pos="7000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</p:pic>
    </p:spTree>
    <p:extLst>
      <p:ext uri="{BB962C8B-B14F-4D97-AF65-F5344CB8AC3E}">
        <p14:creationId xmlns:p14="http://schemas.microsoft.com/office/powerpoint/2010/main" val="665890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C6D0B0E-41AA-1531-A5BE-3279D8547632}"/>
              </a:ext>
            </a:extLst>
          </p:cNvPr>
          <p:cNvSpPr/>
          <p:nvPr/>
        </p:nvSpPr>
        <p:spPr>
          <a:xfrm>
            <a:off x="8862060" y="2822196"/>
            <a:ext cx="1859280" cy="3461089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rgbClr val="C00000"/>
              </a:gs>
            </a:gsLst>
            <a:path path="circle">
              <a:fillToRect t="100000" r="100000"/>
            </a:path>
            <a:tileRect l="-100000" b="-100000"/>
          </a:gradFill>
          <a:ln w="857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виток: горизонтальный 4">
            <a:extLst>
              <a:ext uri="{FF2B5EF4-FFF2-40B4-BE49-F238E27FC236}">
                <a16:creationId xmlns:a16="http://schemas.microsoft.com/office/drawing/2014/main" id="{86A0C3EE-50CD-94D0-E585-BC97943D686D}"/>
              </a:ext>
            </a:extLst>
          </p:cNvPr>
          <p:cNvSpPr/>
          <p:nvPr/>
        </p:nvSpPr>
        <p:spPr>
          <a:xfrm>
            <a:off x="640080" y="1592580"/>
            <a:ext cx="6515100" cy="2968585"/>
          </a:xfrm>
          <a:prstGeom prst="horizontalScroll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: усеченные противолежащие углы 1">
            <a:extLst>
              <a:ext uri="{FF2B5EF4-FFF2-40B4-BE49-F238E27FC236}">
                <a16:creationId xmlns:a16="http://schemas.microsoft.com/office/drawing/2014/main" id="{8A518F63-66E2-8DE2-DCBF-AF4C80D66698}"/>
              </a:ext>
            </a:extLst>
          </p:cNvPr>
          <p:cNvSpPr/>
          <p:nvPr/>
        </p:nvSpPr>
        <p:spPr>
          <a:xfrm>
            <a:off x="640080" y="358140"/>
            <a:ext cx="4450080" cy="84582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Ц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DC6C0D4-ADAF-2475-528A-E68B5E477E1E}"/>
              </a:ext>
            </a:extLst>
          </p:cNvPr>
          <p:cNvSpPr txBox="1">
            <a:spLocks/>
          </p:cNvSpPr>
          <p:nvPr/>
        </p:nvSpPr>
        <p:spPr>
          <a:xfrm>
            <a:off x="772477" y="495141"/>
            <a:ext cx="4185285" cy="57181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latin typeface="Comic Sans MS" panose="030F0702030302020204" pitchFamily="66" charset="0"/>
              </a:rPr>
              <a:t>1.</a:t>
            </a:r>
            <a:r>
              <a:rPr lang="en-US" sz="3600" b="1" dirty="0">
                <a:latin typeface="Comic Sans MS" panose="030F0702030302020204" pitchFamily="66" charset="0"/>
              </a:rPr>
              <a:t>1.</a:t>
            </a:r>
            <a:r>
              <a:rPr lang="ru-RU" sz="3600" b="1" dirty="0">
                <a:latin typeface="Comic Sans MS" panose="030F0702030302020204" pitchFamily="66" charset="0"/>
              </a:rPr>
              <a:t> Цель игры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9A561-933C-CE0A-88C8-3099858AEFAD}"/>
              </a:ext>
            </a:extLst>
          </p:cNvPr>
          <p:cNvSpPr txBox="1"/>
          <p:nvPr/>
        </p:nvSpPr>
        <p:spPr>
          <a:xfrm>
            <a:off x="1055370" y="2061209"/>
            <a:ext cx="5684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Вам предстоит стать пилотом последнего космического корабля, отправившегося на миссию спасения галактики от угрозы неизвестного происхождения.</a:t>
            </a:r>
          </a:p>
          <a:p>
            <a:r>
              <a:rPr lang="ru-RU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mic Sans MS" panose="030F0702030302020204" pitchFamily="66" charset="0"/>
              </a:rPr>
              <a:t>Постройте галактический звездолет и пройдите через бескрайние просторы космоса, сражаясь с волнами пришельцев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 и защитите свою планету!</a:t>
            </a:r>
          </a:p>
        </p:txBody>
      </p:sp>
      <p:pic>
        <p:nvPicPr>
          <p:cNvPr id="7" name="Рисунок 6" descr="Изображение выглядит как космический корабль, транспорт, раке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8E071F0-0082-7CC2-6F0C-6C2AB2C9C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474" y="2967514"/>
            <a:ext cx="3170452" cy="317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208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усеченные противолежащие углы 2">
            <a:extLst>
              <a:ext uri="{FF2B5EF4-FFF2-40B4-BE49-F238E27FC236}">
                <a16:creationId xmlns:a16="http://schemas.microsoft.com/office/drawing/2014/main" id="{04F6226B-0CA8-DC1D-9E86-1A0A1A1EB1FF}"/>
              </a:ext>
            </a:extLst>
          </p:cNvPr>
          <p:cNvSpPr/>
          <p:nvPr/>
        </p:nvSpPr>
        <p:spPr>
          <a:xfrm>
            <a:off x="640080" y="358140"/>
            <a:ext cx="5097780" cy="84582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3F9CF3B-8967-574D-7816-66139E5F66D9}"/>
              </a:ext>
            </a:extLst>
          </p:cNvPr>
          <p:cNvSpPr txBox="1">
            <a:spLocks/>
          </p:cNvSpPr>
          <p:nvPr/>
        </p:nvSpPr>
        <p:spPr>
          <a:xfrm>
            <a:off x="790098" y="535066"/>
            <a:ext cx="4797743" cy="5488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dirty="0">
                <a:latin typeface="Comic Sans MS" panose="030F0702030302020204" pitchFamily="66" charset="0"/>
              </a:rPr>
              <a:t>1.2</a:t>
            </a:r>
            <a:r>
              <a:rPr lang="en-US" sz="2800" b="1" dirty="0">
                <a:latin typeface="Comic Sans MS" panose="030F0702030302020204" pitchFamily="66" charset="0"/>
              </a:rPr>
              <a:t>.</a:t>
            </a:r>
            <a:r>
              <a:rPr lang="ru-RU" sz="2800" b="1" dirty="0">
                <a:latin typeface="Comic Sans MS" panose="030F0702030302020204" pitchFamily="66" charset="0"/>
              </a:rPr>
              <a:t> Управление кораблём  </a:t>
            </a:r>
          </a:p>
        </p:txBody>
      </p:sp>
      <p:pic>
        <p:nvPicPr>
          <p:cNvPr id="7" name="Запись 2026-05-13 093848">
            <a:hlinkClick r:id="" action="ppaction://media"/>
            <a:extLst>
              <a:ext uri="{FF2B5EF4-FFF2-40B4-BE49-F238E27FC236}">
                <a16:creationId xmlns:a16="http://schemas.microsoft.com/office/drawing/2014/main" id="{F4524FC6-F9B2-2842-C0EE-00D8013AC37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95400" y="3425321"/>
            <a:ext cx="3578394" cy="3074539"/>
          </a:xfrm>
          <a:prstGeom prst="roundRect">
            <a:avLst>
              <a:gd name="adj" fmla="val 10443"/>
            </a:avLst>
          </a:prstGeom>
          <a:ln w="28575">
            <a:solidFill>
              <a:schemeClr val="tx1"/>
            </a:solidFill>
          </a:ln>
        </p:spPr>
      </p:pic>
      <p:sp>
        <p:nvSpPr>
          <p:cNvPr id="8" name="Стрелка: изогнутая вправо 7">
            <a:extLst>
              <a:ext uri="{FF2B5EF4-FFF2-40B4-BE49-F238E27FC236}">
                <a16:creationId xmlns:a16="http://schemas.microsoft.com/office/drawing/2014/main" id="{18F352E6-F798-2390-B3E0-7C23185D6B20}"/>
              </a:ext>
            </a:extLst>
          </p:cNvPr>
          <p:cNvSpPr/>
          <p:nvPr/>
        </p:nvSpPr>
        <p:spPr>
          <a:xfrm>
            <a:off x="434340" y="2590931"/>
            <a:ext cx="861060" cy="1668780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Прямоугольник: один усеченный угол 9">
            <a:extLst>
              <a:ext uri="{FF2B5EF4-FFF2-40B4-BE49-F238E27FC236}">
                <a16:creationId xmlns:a16="http://schemas.microsoft.com/office/drawing/2014/main" id="{3C32211F-9442-B9EC-D27F-B3DBFD77027C}"/>
              </a:ext>
            </a:extLst>
          </p:cNvPr>
          <p:cNvSpPr/>
          <p:nvPr/>
        </p:nvSpPr>
        <p:spPr>
          <a:xfrm>
            <a:off x="1295400" y="2046101"/>
            <a:ext cx="3314572" cy="1089660"/>
          </a:xfrm>
          <a:prstGeom prst="snip1Rect">
            <a:avLst>
              <a:gd name="adj" fmla="val 39510"/>
            </a:avLst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 </a:t>
            </a:r>
          </a:p>
          <a:p>
            <a:pPr algn="ctr"/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5EEAF7-AB1C-0CD8-A44A-BFB00D6D378F}"/>
              </a:ext>
            </a:extLst>
          </p:cNvPr>
          <p:cNvSpPr txBox="1"/>
          <p:nvPr/>
        </p:nvSpPr>
        <p:spPr>
          <a:xfrm>
            <a:off x="1505014" y="2129266"/>
            <a:ext cx="28953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Передвижение корабля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: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A (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Ф) – движение влево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D (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В) – движение вправо</a:t>
            </a:r>
          </a:p>
        </p:txBody>
      </p:sp>
      <p:pic>
        <p:nvPicPr>
          <p:cNvPr id="12" name="Запись 2026-05-13 095247">
            <a:hlinkClick r:id="" action="ppaction://media"/>
            <a:extLst>
              <a:ext uri="{FF2B5EF4-FFF2-40B4-BE49-F238E27FC236}">
                <a16:creationId xmlns:a16="http://schemas.microsoft.com/office/drawing/2014/main" id="{8806B056-D902-E1E7-A00C-535E3B3ED1E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rcRect t="11416"/>
          <a:stretch/>
        </p:blipFill>
        <p:spPr>
          <a:xfrm>
            <a:off x="7318208" y="3421249"/>
            <a:ext cx="3578394" cy="3078611"/>
          </a:xfrm>
          <a:prstGeom prst="roundRect">
            <a:avLst>
              <a:gd name="adj" fmla="val 9920"/>
            </a:avLst>
          </a:prstGeom>
          <a:ln w="31750">
            <a:solidFill>
              <a:schemeClr val="tx1"/>
            </a:solidFill>
          </a:ln>
        </p:spPr>
      </p:pic>
      <p:sp>
        <p:nvSpPr>
          <p:cNvPr id="14" name="Стрелка: изогнутая вправо 13">
            <a:extLst>
              <a:ext uri="{FF2B5EF4-FFF2-40B4-BE49-F238E27FC236}">
                <a16:creationId xmlns:a16="http://schemas.microsoft.com/office/drawing/2014/main" id="{CD427A06-4D97-9062-9241-DA0871F418D5}"/>
              </a:ext>
            </a:extLst>
          </p:cNvPr>
          <p:cNvSpPr/>
          <p:nvPr/>
        </p:nvSpPr>
        <p:spPr>
          <a:xfrm>
            <a:off x="6457148" y="2590931"/>
            <a:ext cx="861060" cy="1668780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Прямоугольник: один усеченный угол 14">
            <a:extLst>
              <a:ext uri="{FF2B5EF4-FFF2-40B4-BE49-F238E27FC236}">
                <a16:creationId xmlns:a16="http://schemas.microsoft.com/office/drawing/2014/main" id="{C44393E4-D2D0-BC86-8BF9-1060B7138D96}"/>
              </a:ext>
            </a:extLst>
          </p:cNvPr>
          <p:cNvSpPr/>
          <p:nvPr/>
        </p:nvSpPr>
        <p:spPr>
          <a:xfrm>
            <a:off x="7318208" y="2046101"/>
            <a:ext cx="3314572" cy="1089660"/>
          </a:xfrm>
          <a:prstGeom prst="snip1Rect">
            <a:avLst>
              <a:gd name="adj" fmla="val 39510"/>
            </a:avLst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 </a:t>
            </a:r>
          </a:p>
          <a:p>
            <a:pPr algn="ctr"/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9D817B-FE57-0148-298B-1D2DB69B6B99}"/>
              </a:ext>
            </a:extLst>
          </p:cNvPr>
          <p:cNvSpPr txBox="1"/>
          <p:nvPr/>
        </p:nvSpPr>
        <p:spPr>
          <a:xfrm>
            <a:off x="7383551" y="2267765"/>
            <a:ext cx="3183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Comic Sans MS" panose="030F0702030302020204" pitchFamily="66" charset="0"/>
              </a:rPr>
              <a:t>Стрельба</a:t>
            </a:r>
            <a:r>
              <a:rPr lang="en-US" dirty="0">
                <a:latin typeface="Comic Sans MS" panose="030F0702030302020204" pitchFamily="66" charset="0"/>
              </a:rPr>
              <a:t>:</a:t>
            </a:r>
          </a:p>
          <a:p>
            <a:r>
              <a:rPr lang="en-US" dirty="0">
                <a:latin typeface="Comic Sans MS" panose="030F0702030302020204" pitchFamily="66" charset="0"/>
              </a:rPr>
              <a:t>SPACE (</a:t>
            </a:r>
            <a:r>
              <a:rPr lang="ru-RU" dirty="0">
                <a:latin typeface="Comic Sans MS" panose="030F0702030302020204" pitchFamily="66" charset="0"/>
              </a:rPr>
              <a:t>Пробел) - выстрел</a:t>
            </a:r>
          </a:p>
        </p:txBody>
      </p:sp>
    </p:spTree>
    <p:extLst>
      <p:ext uri="{BB962C8B-B14F-4D97-AF65-F5344CB8AC3E}">
        <p14:creationId xmlns:p14="http://schemas.microsoft.com/office/powerpoint/2010/main" val="352692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762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39394">
                <p:cTn id="11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усеченные противолежащие углы 1">
            <a:extLst>
              <a:ext uri="{FF2B5EF4-FFF2-40B4-BE49-F238E27FC236}">
                <a16:creationId xmlns:a16="http://schemas.microsoft.com/office/drawing/2014/main" id="{FDA558DB-6AC2-F898-BC78-C658F5AFE2FC}"/>
              </a:ext>
            </a:extLst>
          </p:cNvPr>
          <p:cNvSpPr/>
          <p:nvPr/>
        </p:nvSpPr>
        <p:spPr>
          <a:xfrm>
            <a:off x="505276" y="1859192"/>
            <a:ext cx="4396740" cy="1670520"/>
          </a:xfrm>
          <a:prstGeom prst="snip2DiagRect">
            <a:avLst>
              <a:gd name="adj1" fmla="val 19016"/>
              <a:gd name="adj2" fmla="val 601"/>
            </a:avLst>
          </a:prstGeom>
          <a:gradFill flip="none" rotWithShape="1">
            <a:gsLst>
              <a:gs pos="50000">
                <a:schemeClr val="accent1">
                  <a:lumMod val="5000"/>
                  <a:lumOff val="95000"/>
                </a:schemeClr>
              </a:gs>
              <a:gs pos="0">
                <a:schemeClr val="tx2">
                  <a:lumMod val="50000"/>
                  <a:lumOff val="5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усеченные противолежащие углы 2">
            <a:extLst>
              <a:ext uri="{FF2B5EF4-FFF2-40B4-BE49-F238E27FC236}">
                <a16:creationId xmlns:a16="http://schemas.microsoft.com/office/drawing/2014/main" id="{76153906-907E-D74D-F8B3-B2F2F67E701A}"/>
              </a:ext>
            </a:extLst>
          </p:cNvPr>
          <p:cNvSpPr/>
          <p:nvPr/>
        </p:nvSpPr>
        <p:spPr>
          <a:xfrm>
            <a:off x="451935" y="365672"/>
            <a:ext cx="3480624" cy="845820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55000">
                <a:schemeClr val="tx2">
                  <a:lumMod val="50000"/>
                  <a:lumOff val="5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A080BD8-8510-5BF4-3AB2-3BCC9FB10A34}"/>
              </a:ext>
            </a:extLst>
          </p:cNvPr>
          <p:cNvSpPr txBox="1">
            <a:spLocks/>
          </p:cNvSpPr>
          <p:nvPr/>
        </p:nvSpPr>
        <p:spPr>
          <a:xfrm>
            <a:off x="716730" y="502673"/>
            <a:ext cx="4185285" cy="57181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latin typeface="Comic Sans MS" panose="030F0702030302020204" pitchFamily="66" charset="0"/>
              </a:rPr>
              <a:t>2. Код игры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349B08C2-9654-1F6F-CC31-479BFD882820}"/>
              </a:ext>
            </a:extLst>
          </p:cNvPr>
          <p:cNvSpPr txBox="1">
            <a:spLocks/>
          </p:cNvSpPr>
          <p:nvPr/>
        </p:nvSpPr>
        <p:spPr>
          <a:xfrm>
            <a:off x="512393" y="1924716"/>
            <a:ext cx="4329163" cy="160499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В этой части мы разберём внутреннее устройство игры </a:t>
            </a:r>
          </a:p>
        </p:txBody>
      </p:sp>
    </p:spTree>
    <p:extLst>
      <p:ext uri="{BB962C8B-B14F-4D97-AF65-F5344CB8AC3E}">
        <p14:creationId xmlns:p14="http://schemas.microsoft.com/office/powerpoint/2010/main" val="1198708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усеченные противолежащие углы 2">
            <a:extLst>
              <a:ext uri="{FF2B5EF4-FFF2-40B4-BE49-F238E27FC236}">
                <a16:creationId xmlns:a16="http://schemas.microsoft.com/office/drawing/2014/main" id="{D40F8E43-4369-64A7-1A25-4A505C63A2CB}"/>
              </a:ext>
            </a:extLst>
          </p:cNvPr>
          <p:cNvSpPr/>
          <p:nvPr/>
        </p:nvSpPr>
        <p:spPr>
          <a:xfrm>
            <a:off x="531270" y="387496"/>
            <a:ext cx="3934628" cy="492342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55000">
                <a:schemeClr val="tx2">
                  <a:lumMod val="50000"/>
                  <a:lumOff val="5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2ACABF9-A473-BFC5-DAEC-F8D803AB3615}"/>
              </a:ext>
            </a:extLst>
          </p:cNvPr>
          <p:cNvSpPr txBox="1">
            <a:spLocks/>
          </p:cNvSpPr>
          <p:nvPr/>
        </p:nvSpPr>
        <p:spPr>
          <a:xfrm>
            <a:off x="611002" y="461264"/>
            <a:ext cx="3775163" cy="492341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Comic Sans MS" panose="030F0702030302020204" pitchFamily="66" charset="0"/>
              </a:rPr>
              <a:t>2.1  Наследование классов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ECB68F7-B63E-192D-5881-6F097DB2AEAA}"/>
              </a:ext>
            </a:extLst>
          </p:cNvPr>
          <p:cNvSpPr txBox="1">
            <a:spLocks/>
          </p:cNvSpPr>
          <p:nvPr/>
        </p:nvSpPr>
        <p:spPr>
          <a:xfrm>
            <a:off x="512393" y="1924716"/>
            <a:ext cx="4329163" cy="160499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ru-RU" sz="3200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Блок-схема: альтернативный процесс 5">
            <a:extLst>
              <a:ext uri="{FF2B5EF4-FFF2-40B4-BE49-F238E27FC236}">
                <a16:creationId xmlns:a16="http://schemas.microsoft.com/office/drawing/2014/main" id="{ECA953FB-F758-F8CB-AAB6-CDD92055C713}"/>
              </a:ext>
            </a:extLst>
          </p:cNvPr>
          <p:cNvSpPr/>
          <p:nvPr/>
        </p:nvSpPr>
        <p:spPr>
          <a:xfrm>
            <a:off x="451539" y="1497889"/>
            <a:ext cx="1604996" cy="652229"/>
          </a:xfrm>
          <a:prstGeom prst="flowChartAlternateProcess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55000">
                <a:schemeClr val="tx2">
                  <a:lumMod val="50000"/>
                  <a:lumOff val="5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Hitbox</a:t>
            </a:r>
            <a:endParaRPr lang="ru-RU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Блок-схема: альтернативный процесс 7">
            <a:extLst>
              <a:ext uri="{FF2B5EF4-FFF2-40B4-BE49-F238E27FC236}">
                <a16:creationId xmlns:a16="http://schemas.microsoft.com/office/drawing/2014/main" id="{4E2E7CC7-32FF-BA62-B98D-E22E8EE85670}"/>
              </a:ext>
            </a:extLst>
          </p:cNvPr>
          <p:cNvSpPr/>
          <p:nvPr/>
        </p:nvSpPr>
        <p:spPr>
          <a:xfrm>
            <a:off x="451539" y="2776771"/>
            <a:ext cx="1604996" cy="652229"/>
          </a:xfrm>
          <a:prstGeom prst="flowChartAlternateProcess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55000">
                <a:schemeClr val="tx2">
                  <a:lumMod val="50000"/>
                  <a:lumOff val="5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Picture</a:t>
            </a:r>
            <a:endParaRPr lang="ru-RU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9" name="Блок-схема: альтернативный процесс 8">
            <a:extLst>
              <a:ext uri="{FF2B5EF4-FFF2-40B4-BE49-F238E27FC236}">
                <a16:creationId xmlns:a16="http://schemas.microsoft.com/office/drawing/2014/main" id="{8ADA46D5-BAA7-502B-EC70-82C00899C60D}"/>
              </a:ext>
            </a:extLst>
          </p:cNvPr>
          <p:cNvSpPr/>
          <p:nvPr/>
        </p:nvSpPr>
        <p:spPr>
          <a:xfrm>
            <a:off x="451539" y="4169587"/>
            <a:ext cx="1604996" cy="652229"/>
          </a:xfrm>
          <a:prstGeom prst="flowChartAlternateProcess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55000">
                <a:schemeClr val="tx2">
                  <a:lumMod val="50000"/>
                  <a:lumOff val="5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Player</a:t>
            </a:r>
            <a:endParaRPr lang="ru-RU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0" name="Блок-схема: альтернативный процесс 9">
            <a:extLst>
              <a:ext uri="{FF2B5EF4-FFF2-40B4-BE49-F238E27FC236}">
                <a16:creationId xmlns:a16="http://schemas.microsoft.com/office/drawing/2014/main" id="{31E5FD07-69CD-5B85-D0D1-0B87915103E9}"/>
              </a:ext>
            </a:extLst>
          </p:cNvPr>
          <p:cNvSpPr/>
          <p:nvPr/>
        </p:nvSpPr>
        <p:spPr>
          <a:xfrm>
            <a:off x="2418853" y="4169587"/>
            <a:ext cx="1604996" cy="652229"/>
          </a:xfrm>
          <a:prstGeom prst="flowChartAlternateProcess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55000">
                <a:schemeClr val="tx2">
                  <a:lumMod val="50000"/>
                  <a:lumOff val="5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Enemy</a:t>
            </a:r>
            <a:endParaRPr lang="ru-RU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1" name="Блок-схема: альтернативный процесс 10">
            <a:extLst>
              <a:ext uri="{FF2B5EF4-FFF2-40B4-BE49-F238E27FC236}">
                <a16:creationId xmlns:a16="http://schemas.microsoft.com/office/drawing/2014/main" id="{651BADFF-D427-BF59-DD0A-CCE38FC77189}"/>
              </a:ext>
            </a:extLst>
          </p:cNvPr>
          <p:cNvSpPr/>
          <p:nvPr/>
        </p:nvSpPr>
        <p:spPr>
          <a:xfrm>
            <a:off x="3529712" y="2776771"/>
            <a:ext cx="1604996" cy="652229"/>
          </a:xfrm>
          <a:prstGeom prst="flowChartAlternateProcess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55000">
                <a:schemeClr val="tx2">
                  <a:lumMod val="50000"/>
                  <a:lumOff val="5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Bullet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2FE2AAE0-EA9B-90EE-983D-2BD1CAABE340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1254037" y="2150118"/>
            <a:ext cx="0" cy="626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59B25D5-BADA-C8D2-E77E-5547CA9AB563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1254037" y="3429000"/>
            <a:ext cx="0" cy="740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E26AA872-EEDA-9015-8B04-6B96B1595C2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056535" y="3102886"/>
            <a:ext cx="14731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D655CC4A-7BF4-0743-3EB5-88BC8F82A9B0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221351" y="3102886"/>
            <a:ext cx="0" cy="1066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4" name="Рисунок 33" descr="Изображение выглядит как текст, снимок экрана, дисплей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3D5A9DA-26E8-0F49-C4ED-48746C5E4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921" y="387496"/>
            <a:ext cx="4247540" cy="3082090"/>
          </a:xfrm>
          <a:prstGeom prst="roundRect">
            <a:avLst>
              <a:gd name="adj" fmla="val 7351"/>
            </a:avLst>
          </a:prstGeom>
        </p:spPr>
      </p:pic>
    </p:spTree>
    <p:extLst>
      <p:ext uri="{BB962C8B-B14F-4D97-AF65-F5344CB8AC3E}">
        <p14:creationId xmlns:p14="http://schemas.microsoft.com/office/powerpoint/2010/main" val="2835286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усеченные противолежащие углы 1">
            <a:extLst>
              <a:ext uri="{FF2B5EF4-FFF2-40B4-BE49-F238E27FC236}">
                <a16:creationId xmlns:a16="http://schemas.microsoft.com/office/drawing/2014/main" id="{41F03C2D-9766-D9D8-B307-4BBB926AE583}"/>
              </a:ext>
            </a:extLst>
          </p:cNvPr>
          <p:cNvSpPr/>
          <p:nvPr/>
        </p:nvSpPr>
        <p:spPr>
          <a:xfrm>
            <a:off x="451539" y="365671"/>
            <a:ext cx="4127723" cy="555123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55000">
                <a:schemeClr val="tx2">
                  <a:lumMod val="50000"/>
                  <a:lumOff val="5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Comic Sans MS" panose="030F0702030302020204" pitchFamily="66" charset="0"/>
              </a:rPr>
              <a:t>2.</a:t>
            </a:r>
            <a:r>
              <a:rPr 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2</a:t>
            </a:r>
            <a:r>
              <a:rPr lang="ru-RU" b="1" dirty="0">
                <a:solidFill>
                  <a:schemeClr val="tx1"/>
                </a:solidFill>
                <a:latin typeface="Comic Sans MS" panose="030F0702030302020204" pitchFamily="66" charset="0"/>
              </a:rPr>
              <a:t> Передвижение персонажей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75AF1F-FDF0-BF86-5826-207EDD857F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21" y="1224135"/>
            <a:ext cx="3785277" cy="2721213"/>
          </a:xfrm>
          <a:prstGeom prst="roundRect">
            <a:avLst>
              <a:gd name="adj" fmla="val 6953"/>
            </a:avLst>
          </a:prstGeom>
        </p:spPr>
      </p:pic>
      <p:pic>
        <p:nvPicPr>
          <p:cNvPr id="8" name="Рисунок 7" descr="Изображение выглядит как текст, снимок экрана, программное обеспечение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28DE872-C1AE-F81A-1C2D-0163BAD925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804" y="457202"/>
            <a:ext cx="3669430" cy="3488146"/>
          </a:xfrm>
          <a:prstGeom prst="roundRect">
            <a:avLst>
              <a:gd name="adj" fmla="val 8185"/>
            </a:avLst>
          </a:prstGeom>
        </p:spPr>
      </p:pic>
      <p:pic>
        <p:nvPicPr>
          <p:cNvPr id="9" name="Запись 2026-05-13 093848">
            <a:hlinkClick r:id="" action="ppaction://media"/>
            <a:extLst>
              <a:ext uri="{FF2B5EF4-FFF2-40B4-BE49-F238E27FC236}">
                <a16:creationId xmlns:a16="http://schemas.microsoft.com/office/drawing/2014/main" id="{A02347F5-BA22-CF7A-D4FB-AF2BDC579E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616175" y="4105208"/>
            <a:ext cx="2870021" cy="2465909"/>
          </a:xfrm>
          <a:prstGeom prst="rect">
            <a:avLst/>
          </a:prstGeom>
          <a:ln>
            <a:noFill/>
          </a:ln>
          <a:effectLst>
            <a:glow rad="228600">
              <a:srgbClr val="FFFFFF">
                <a:alpha val="40000"/>
              </a:srgbClr>
            </a:glow>
          </a:effectLst>
          <a:scene3d>
            <a:camera prst="orthographicFront"/>
            <a:lightRig rig="threePt" dir="t">
              <a:rot lat="0" lon="0" rev="2100000"/>
            </a:lightRig>
          </a:scene3d>
          <a:sp3d>
            <a:bevelT w="152400" h="101600" prst="slope"/>
          </a:sp3d>
        </p:spPr>
      </p:pic>
      <p:sp>
        <p:nvSpPr>
          <p:cNvPr id="10" name="Стрелка: изогнутая влево 9">
            <a:extLst>
              <a:ext uri="{FF2B5EF4-FFF2-40B4-BE49-F238E27FC236}">
                <a16:creationId xmlns:a16="http://schemas.microsoft.com/office/drawing/2014/main" id="{74281F48-191E-0552-10DC-AEFF559B73E0}"/>
              </a:ext>
            </a:extLst>
          </p:cNvPr>
          <p:cNvSpPr/>
          <p:nvPr/>
        </p:nvSpPr>
        <p:spPr>
          <a:xfrm>
            <a:off x="4486197" y="3449388"/>
            <a:ext cx="693272" cy="1598602"/>
          </a:xfrm>
          <a:prstGeom prst="curvedLeftArrow">
            <a:avLst>
              <a:gd name="adj1" fmla="val 14174"/>
              <a:gd name="adj2" fmla="val 50000"/>
              <a:gd name="adj3" fmla="val 3352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11" name="Запись 2026-05-18 091439">
            <a:hlinkClick r:id="" action="ppaction://media"/>
            <a:extLst>
              <a:ext uri="{FF2B5EF4-FFF2-40B4-BE49-F238E27FC236}">
                <a16:creationId xmlns:a16="http://schemas.microsoft.com/office/drawing/2014/main" id="{275E0ABD-17F5-B762-5A53-A0092963308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973819" y="4275926"/>
            <a:ext cx="4401415" cy="2124471"/>
          </a:xfrm>
          <a:prstGeom prst="rect">
            <a:avLst/>
          </a:prstGeom>
          <a:ln>
            <a:noFill/>
          </a:ln>
          <a:effectLst>
            <a:glow rad="228600">
              <a:srgbClr val="FFFFFF">
                <a:alpha val="40000"/>
              </a:srgbClr>
            </a:glow>
          </a:effectLst>
          <a:scene3d>
            <a:camera prst="orthographicFront"/>
            <a:lightRig rig="threePt" dir="t">
              <a:rot lat="0" lon="0" rev="2100000"/>
            </a:lightRig>
          </a:scene3d>
          <a:sp3d>
            <a:bevelT w="152400" h="101600" prst="slope"/>
          </a:sp3d>
        </p:spPr>
      </p:pic>
      <p:sp>
        <p:nvSpPr>
          <p:cNvPr id="20" name="Стрелка: изогнутая влево 19">
            <a:extLst>
              <a:ext uri="{FF2B5EF4-FFF2-40B4-BE49-F238E27FC236}">
                <a16:creationId xmlns:a16="http://schemas.microsoft.com/office/drawing/2014/main" id="{17F0882B-A68C-60E3-653F-8B32CFC2482B}"/>
              </a:ext>
            </a:extLst>
          </p:cNvPr>
          <p:cNvSpPr/>
          <p:nvPr/>
        </p:nvSpPr>
        <p:spPr>
          <a:xfrm>
            <a:off x="11375234" y="3429000"/>
            <a:ext cx="693272" cy="1598602"/>
          </a:xfrm>
          <a:prstGeom prst="curvedLeftArrow">
            <a:avLst>
              <a:gd name="adj1" fmla="val 14174"/>
              <a:gd name="adj2" fmla="val 50000"/>
              <a:gd name="adj3" fmla="val 3352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80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7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647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631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усеченные противолежащие углы 1">
            <a:extLst>
              <a:ext uri="{FF2B5EF4-FFF2-40B4-BE49-F238E27FC236}">
                <a16:creationId xmlns:a16="http://schemas.microsoft.com/office/drawing/2014/main" id="{0D6BDB6D-85C1-A7BC-D117-21258F569ECC}"/>
              </a:ext>
            </a:extLst>
          </p:cNvPr>
          <p:cNvSpPr/>
          <p:nvPr/>
        </p:nvSpPr>
        <p:spPr>
          <a:xfrm>
            <a:off x="451539" y="365671"/>
            <a:ext cx="4369844" cy="555123"/>
          </a:xfrm>
          <a:prstGeom prst="snip2Diag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55000">
                <a:schemeClr val="tx2">
                  <a:lumMod val="50000"/>
                  <a:lumOff val="50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Comic Sans MS" panose="030F0702030302020204" pitchFamily="66" charset="0"/>
              </a:rPr>
              <a:t>2.</a:t>
            </a:r>
            <a:r>
              <a:rPr 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3</a:t>
            </a:r>
            <a:r>
              <a:rPr lang="ru-RU" b="1" dirty="0">
                <a:solidFill>
                  <a:schemeClr val="tx1"/>
                </a:solidFill>
                <a:latin typeface="Comic Sans MS" panose="030F0702030302020204" pitchFamily="66" charset="0"/>
              </a:rPr>
              <a:t> Условия победы и поражения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0BFAD6D-7CB0-ED3C-D0AC-E7D487078095}"/>
              </a:ext>
            </a:extLst>
          </p:cNvPr>
          <p:cNvSpPr txBox="1">
            <a:spLocks/>
          </p:cNvSpPr>
          <p:nvPr/>
        </p:nvSpPr>
        <p:spPr>
          <a:xfrm>
            <a:off x="514692" y="429034"/>
            <a:ext cx="3871475" cy="36561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600" b="1" dirty="0">
              <a:latin typeface="Comic Sans MS" panose="030F0702030302020204" pitchFamily="66" charset="0"/>
            </a:endParaRPr>
          </a:p>
        </p:txBody>
      </p:sp>
      <p:pic>
        <p:nvPicPr>
          <p:cNvPr id="5" name="Рисунок 4" descr="Изображение выглядит как текст, снимок экрана, дисплей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39804A4-F7B3-6C44-4992-82BE1E6D72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700" y="365671"/>
            <a:ext cx="5245761" cy="3801474"/>
          </a:xfrm>
          <a:prstGeom prst="roundRect">
            <a:avLst>
              <a:gd name="adj" fmla="val 5229"/>
            </a:avLst>
          </a:prstGeom>
        </p:spPr>
      </p:pic>
      <p:pic>
        <p:nvPicPr>
          <p:cNvPr id="8" name="Запись 2026-05-18 092433">
            <a:hlinkClick r:id="" action="ppaction://media"/>
            <a:extLst>
              <a:ext uri="{FF2B5EF4-FFF2-40B4-BE49-F238E27FC236}">
                <a16:creationId xmlns:a16="http://schemas.microsoft.com/office/drawing/2014/main" id="{90BCE1F7-C4D1-6AB4-E4D5-A18D5B359E1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14692" y="4245885"/>
            <a:ext cx="2183081" cy="21830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Выноска: изогнутая линия 9">
            <a:extLst>
              <a:ext uri="{FF2B5EF4-FFF2-40B4-BE49-F238E27FC236}">
                <a16:creationId xmlns:a16="http://schemas.microsoft.com/office/drawing/2014/main" id="{220D8409-ABE5-92C9-8FE9-7A3B15BCDE3D}"/>
              </a:ext>
            </a:extLst>
          </p:cNvPr>
          <p:cNvSpPr/>
          <p:nvPr/>
        </p:nvSpPr>
        <p:spPr>
          <a:xfrm>
            <a:off x="632380" y="1688123"/>
            <a:ext cx="2065393" cy="1023105"/>
          </a:xfrm>
          <a:prstGeom prst="borderCallout2">
            <a:avLst>
              <a:gd name="adj1" fmla="val 87500"/>
              <a:gd name="adj2" fmla="val -297"/>
              <a:gd name="adj3" fmla="val 89694"/>
              <a:gd name="adj4" fmla="val -20384"/>
              <a:gd name="adj5" fmla="val 253125"/>
              <a:gd name="adj6" fmla="val 9748"/>
            </a:avLst>
          </a:prstGeom>
          <a:ln w="508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>
                <a:latin typeface="Comic Sans MS" panose="030F0702030302020204" pitchFamily="66" charset="0"/>
              </a:rPr>
              <a:t>Попадаешь пулей по врагу –</a:t>
            </a:r>
            <a:r>
              <a:rPr lang="en-US" sz="1600" dirty="0">
                <a:latin typeface="Comic Sans MS" panose="030F0702030302020204" pitchFamily="66" charset="0"/>
              </a:rPr>
              <a:t>&gt;</a:t>
            </a:r>
            <a:r>
              <a:rPr lang="ru-RU" sz="1600" dirty="0">
                <a:latin typeface="Comic Sans MS" panose="030F0702030302020204" pitchFamily="66" charset="0"/>
              </a:rPr>
              <a:t> </a:t>
            </a:r>
          </a:p>
          <a:p>
            <a:pPr algn="ctr"/>
            <a:r>
              <a:rPr lang="ru-RU" sz="1600" dirty="0">
                <a:latin typeface="Comic Sans MS" panose="030F0702030302020204" pitchFamily="66" charset="0"/>
              </a:rPr>
              <a:t>Враг побеждён –</a:t>
            </a:r>
            <a:r>
              <a:rPr lang="en-US" sz="1600" dirty="0">
                <a:latin typeface="Comic Sans MS" panose="030F0702030302020204" pitchFamily="66" charset="0"/>
              </a:rPr>
              <a:t>&gt;</a:t>
            </a:r>
            <a:r>
              <a:rPr lang="ru-RU" sz="1600" dirty="0">
                <a:latin typeface="Comic Sans MS" panose="030F0702030302020204" pitchFamily="66" charset="0"/>
              </a:rPr>
              <a:t> Счёт + 1</a:t>
            </a:r>
          </a:p>
        </p:txBody>
      </p:sp>
      <p:pic>
        <p:nvPicPr>
          <p:cNvPr id="11" name="Запись 2026-05-18 092433">
            <a:hlinkClick r:id="" action="ppaction://media"/>
            <a:extLst>
              <a:ext uri="{FF2B5EF4-FFF2-40B4-BE49-F238E27FC236}">
                <a16:creationId xmlns:a16="http://schemas.microsoft.com/office/drawing/2014/main" id="{755FA504-505B-C0A3-4317-393CF4B6258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729842" y="4245884"/>
            <a:ext cx="2183081" cy="21830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3" name="Выноска: изогнутая линия 12">
            <a:extLst>
              <a:ext uri="{FF2B5EF4-FFF2-40B4-BE49-F238E27FC236}">
                <a16:creationId xmlns:a16="http://schemas.microsoft.com/office/drawing/2014/main" id="{06BFE8BF-EBB1-3925-CC1B-C0E75EB0AAB8}"/>
              </a:ext>
            </a:extLst>
          </p:cNvPr>
          <p:cNvSpPr/>
          <p:nvPr/>
        </p:nvSpPr>
        <p:spPr>
          <a:xfrm>
            <a:off x="3847530" y="1754855"/>
            <a:ext cx="2065393" cy="1023105"/>
          </a:xfrm>
          <a:prstGeom prst="borderCallout2">
            <a:avLst>
              <a:gd name="adj1" fmla="val 87500"/>
              <a:gd name="adj2" fmla="val -297"/>
              <a:gd name="adj3" fmla="val 89694"/>
              <a:gd name="adj4" fmla="val -20384"/>
              <a:gd name="adj5" fmla="val 253125"/>
              <a:gd name="adj6" fmla="val 9748"/>
            </a:avLst>
          </a:prstGeom>
          <a:ln w="508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>
                <a:latin typeface="Comic Sans MS" panose="030F0702030302020204" pitchFamily="66" charset="0"/>
              </a:rPr>
              <a:t>Враг прошёл мимо корабля -</a:t>
            </a:r>
            <a:r>
              <a:rPr lang="en-US" sz="1600" dirty="0">
                <a:latin typeface="Comic Sans MS" panose="030F0702030302020204" pitchFamily="66" charset="0"/>
              </a:rPr>
              <a:t>&gt; </a:t>
            </a:r>
            <a:r>
              <a:rPr lang="ru-RU" sz="1600" dirty="0">
                <a:latin typeface="Comic Sans MS" panose="030F0702030302020204" pitchFamily="66" charset="0"/>
              </a:rPr>
              <a:t>Пропущено + 1 </a:t>
            </a:r>
          </a:p>
        </p:txBody>
      </p:sp>
    </p:spTree>
    <p:extLst>
      <p:ext uri="{BB962C8B-B14F-4D97-AF65-F5344CB8AC3E}">
        <p14:creationId xmlns:p14="http://schemas.microsoft.com/office/powerpoint/2010/main" val="235153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90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8906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2890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7D958-0124-C7DF-B29C-6F1E1F2C4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Этапы тестирования игры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665005-F118-FFDF-860D-F11F215487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2104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3384C-508B-E384-F5CE-98FD43C62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Comic Sans MS" panose="030F0702030302020204" pitchFamily="66" charset="0"/>
              </a:rPr>
              <a:t>Тест-кейс 1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55CDBB4-52C1-6E59-DEA0-7A2B27F1F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1371600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Comic Sans MS" panose="030F0702030302020204" pitchFamily="66" charset="0"/>
              </a:rPr>
              <a:t>Тестируемая функция – Выстрел </a:t>
            </a:r>
          </a:p>
        </p:txBody>
      </p:sp>
      <p:pic>
        <p:nvPicPr>
          <p:cNvPr id="8" name="Рисунок 7" descr="Изображение выглядит как текст, снимок экрана, Шрифт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43006EF-6912-BFE6-0673-222F7B127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863" y="457200"/>
            <a:ext cx="6532110" cy="3022838"/>
          </a:xfrm>
          <a:prstGeom prst="roundRect">
            <a:avLst>
              <a:gd name="adj" fmla="val 9052"/>
            </a:avLst>
          </a:prstGeom>
        </p:spPr>
      </p:pic>
    </p:spTree>
    <p:extLst>
      <p:ext uri="{BB962C8B-B14F-4D97-AF65-F5344CB8AC3E}">
        <p14:creationId xmlns:p14="http://schemas.microsoft.com/office/powerpoint/2010/main" val="1394583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94960">
              <a:schemeClr val="accent1">
                <a:lumMod val="20000"/>
                <a:lumOff val="80000"/>
              </a:schemeClr>
            </a:gs>
            <a:gs pos="0">
              <a:schemeClr val="accent1">
                <a:lumMod val="40000"/>
                <a:lumOff val="60000"/>
              </a:scheme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399C8B-2677-6E4D-E9E1-E2640F439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761" y="1977587"/>
            <a:ext cx="2888149" cy="618659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Comic Sans MS" panose="030F0702030302020204" pitchFamily="66" charset="0"/>
              </a:rPr>
              <a:t>Тест-кейс 2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B4B67CE-648F-B7BE-5D85-7B303FCFF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7393" y="2579531"/>
            <a:ext cx="3418886" cy="937727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Comic Sans MS" panose="030F0702030302020204" pitchFamily="66" charset="0"/>
              </a:rPr>
              <a:t>Тестируемая функция – Передвижение игрока на клавиши </a:t>
            </a:r>
            <a:r>
              <a:rPr lang="en-US" sz="2000" dirty="0">
                <a:latin typeface="Comic Sans MS" panose="030F0702030302020204" pitchFamily="66" charset="0"/>
              </a:rPr>
              <a:t>“A” </a:t>
            </a:r>
            <a:r>
              <a:rPr lang="ru-RU" sz="2000" dirty="0">
                <a:latin typeface="Comic Sans MS" panose="030F0702030302020204" pitchFamily="66" charset="0"/>
              </a:rPr>
              <a:t>и </a:t>
            </a:r>
            <a:r>
              <a:rPr lang="en-US" sz="2000" dirty="0">
                <a:latin typeface="Comic Sans MS" panose="030F0702030302020204" pitchFamily="66" charset="0"/>
              </a:rPr>
              <a:t>“D”</a:t>
            </a:r>
            <a:endParaRPr lang="ru-RU" sz="2000" dirty="0">
              <a:latin typeface="Comic Sans MS" panose="030F0702030302020204" pitchFamily="66" charset="0"/>
            </a:endParaRPr>
          </a:p>
        </p:txBody>
      </p:sp>
      <p:pic>
        <p:nvPicPr>
          <p:cNvPr id="6" name="Рисунок 5" descr="Изображение выглядит как текст, снимок экрана, Шрифт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ABD816B-9001-5712-2F53-B143FA491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19" y="3612839"/>
            <a:ext cx="6564439" cy="2574426"/>
          </a:xfrm>
          <a:prstGeom prst="roundRect">
            <a:avLst>
              <a:gd name="adj" fmla="val 7999"/>
            </a:avLst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080BEA-E575-E86C-0607-855C05DDB439}"/>
              </a:ext>
            </a:extLst>
          </p:cNvPr>
          <p:cNvSpPr txBox="1"/>
          <p:nvPr/>
        </p:nvSpPr>
        <p:spPr>
          <a:xfrm>
            <a:off x="7724437" y="3258896"/>
            <a:ext cx="33059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Comic Sans MS" panose="030F0702030302020204" pitchFamily="66" charset="0"/>
              </a:rPr>
              <a:t>Тест-кейс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9BB3E-DF97-02AE-CAD3-A8AD24B70B1D}"/>
              </a:ext>
            </a:extLst>
          </p:cNvPr>
          <p:cNvSpPr txBox="1"/>
          <p:nvPr/>
        </p:nvSpPr>
        <p:spPr>
          <a:xfrm>
            <a:off x="7822316" y="3966782"/>
            <a:ext cx="31101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Comic Sans MS" panose="030F0702030302020204" pitchFamily="66" charset="0"/>
              </a:rPr>
              <a:t>Тестируемая функция –</a:t>
            </a:r>
          </a:p>
          <a:p>
            <a:r>
              <a:rPr lang="ru-RU" sz="2000" dirty="0">
                <a:latin typeface="Comic Sans MS" panose="030F0702030302020204" pitchFamily="66" charset="0"/>
              </a:rPr>
              <a:t>Проигрыш игры</a:t>
            </a:r>
          </a:p>
        </p:txBody>
      </p:sp>
      <p:pic>
        <p:nvPicPr>
          <p:cNvPr id="14" name="Рисунок 13" descr="Изображение выглядит как текст, снимок экрана, Шрифт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3E668E2-3857-2292-69BE-5F91BE54E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559" y="676063"/>
            <a:ext cx="4991660" cy="2372331"/>
          </a:xfrm>
          <a:prstGeom prst="roundRect">
            <a:avLst>
              <a:gd name="adj" fmla="val 5616"/>
            </a:avLst>
          </a:prstGeom>
        </p:spPr>
      </p:pic>
    </p:spTree>
    <p:extLst>
      <p:ext uri="{BB962C8B-B14F-4D97-AF65-F5344CB8AC3E}">
        <p14:creationId xmlns:p14="http://schemas.microsoft.com/office/powerpoint/2010/main" val="32671096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220</Words>
  <Application>Microsoft Office PowerPoint</Application>
  <PresentationFormat>Широкоэкранный</PresentationFormat>
  <Paragraphs>38</Paragraphs>
  <Slides>11</Slides>
  <Notes>0</Notes>
  <HiddenSlides>0</HiddenSlides>
  <MMClips>6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Bahnschrift Condensed</vt:lpstr>
      <vt:lpstr>Comic Sans MS</vt:lpstr>
      <vt:lpstr>Тема Office</vt:lpstr>
      <vt:lpstr>Ультра гипер мега маладёжный касмический шутэр стрелялка бесплатно без мс и регистрации стрелять летать космос про против нубика паркур 999 уровней читер против бога в майнкрафт но враги космический стрелять яндекс игры без рекламы и ввода карты</vt:lpstr>
      <vt:lpstr>1. Геймплей игры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Этапы тестирования игры</vt:lpstr>
      <vt:lpstr>Тест-кейс 1</vt:lpstr>
      <vt:lpstr>Тест-кейс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Кы рлл</dc:creator>
  <cp:lastModifiedBy>Кы рлл</cp:lastModifiedBy>
  <cp:revision>2</cp:revision>
  <dcterms:created xsi:type="dcterms:W3CDTF">2026-05-11T06:59:43Z</dcterms:created>
  <dcterms:modified xsi:type="dcterms:W3CDTF">2026-05-18T06:58:56Z</dcterms:modified>
</cp:coreProperties>
</file>